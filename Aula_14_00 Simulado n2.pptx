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370" r:id="rId6"/>
    <p:sldId id="371" r:id="rId7"/>
    <p:sldId id="368" r:id="rId8"/>
    <p:sldId id="372" r:id="rId9"/>
    <p:sldId id="369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Lato Black" panose="020F0502020204030203" pitchFamily="34" charset="0"/>
      <p:bold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hk4JWp5PlkO0oeleaQS9U33fwy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9" autoAdjust="0"/>
  </p:normalViewPr>
  <p:slideViewPr>
    <p:cSldViewPr snapToGrid="0">
      <p:cViewPr varScale="1">
        <p:scale>
          <a:sx n="78" d="100"/>
          <a:sy n="78" d="100"/>
        </p:scale>
        <p:origin x="1776" y="2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3" Type="http://schemas.openxmlformats.org/officeDocument/2006/relationships/customXml" Target="../customXml/item3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69918267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869918267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57D33D0-18EB-3D7B-A55C-7230ABD0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52B73B3D-7344-5F39-8F1A-81289184B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92FE9438-4B6F-7D04-15A8-A69A65BB2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328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6038F1E9-161C-33F1-990E-A32CDE52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D3C5D31A-183B-3B70-4F49-21ECA8680E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7B26170D-0C89-FC34-3C57-6D07DA985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5622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132F3DF4-4AF1-2958-AEB2-FB701C5A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D9DD7576-00D3-4546-6B0E-E4BF3B460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884F61DD-D052-C993-69B8-6E88715F3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6633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82619BE-7E62-CD2E-408E-4B0876BF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AAE1BD96-535C-D977-9A56-88FA24612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C0B8AE58-186F-D49D-BB70-794379E5A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670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082619BE-7E62-CD2E-408E-4B0876BF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>
            <a:extLst>
              <a:ext uri="{FF2B5EF4-FFF2-40B4-BE49-F238E27FC236}">
                <a16:creationId xmlns:a16="http://schemas.microsoft.com/office/drawing/2014/main" id="{AAE1BD96-535C-D977-9A56-88FA24612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C0B8AE58-186F-D49D-BB70-794379E5AA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67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831850" y="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Arial"/>
              <a:buNone/>
              <a:defRPr sz="6000" b="1">
                <a:solidFill>
                  <a:srgbClr val="2F549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831850" y="305025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3838"/>
              </a:buClr>
              <a:buSzPts val="2400"/>
              <a:buNone/>
              <a:defRPr sz="2400">
                <a:solidFill>
                  <a:srgbClr val="3A383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1" name="Google Shape;31;p10"/>
          <p:cNvPicPr preferRelativeResize="0"/>
          <p:nvPr/>
        </p:nvPicPr>
        <p:blipFill rotWithShape="1">
          <a:blip r:embed="rId2">
            <a:alphaModFix/>
          </a:blip>
          <a:srcRect l="21166" b="14244"/>
          <a:stretch/>
        </p:blipFill>
        <p:spPr>
          <a:xfrm>
            <a:off x="-4764" y="4633353"/>
            <a:ext cx="2128838" cy="2229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4400"/>
              <a:buFont typeface="Arial"/>
              <a:buNone/>
              <a:defRPr b="1">
                <a:solidFill>
                  <a:srgbClr val="2F549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1" name="Google Shape;51;p13"/>
          <p:cNvSpPr txBox="1"/>
          <p:nvPr/>
        </p:nvSpPr>
        <p:spPr>
          <a:xfrm>
            <a:off x="-185058" y="6176963"/>
            <a:ext cx="321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41300"/>
              <a:buFont typeface="Arial"/>
              <a:buNone/>
            </a:pPr>
            <a:r>
              <a:rPr lang="pt-BR" sz="41300" b="1" i="0" u="none" strike="noStrike" cap="none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‘’</a:t>
            </a:r>
            <a:endParaRPr dirty="0"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044574"/>
            <a:ext cx="10515600" cy="32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6000"/>
              <a:buNone/>
              <a:defRPr sz="6000">
                <a:solidFill>
                  <a:srgbClr val="2F5496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838200" y="4545806"/>
            <a:ext cx="10515600" cy="8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113;g8699182675_0_106">
            <a:extLst>
              <a:ext uri="{FF2B5EF4-FFF2-40B4-BE49-F238E27FC236}">
                <a16:creationId xmlns:a16="http://schemas.microsoft.com/office/drawing/2014/main" id="{4458C710-4694-4B1F-A158-BC29FB8914B0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10958663" y="5940060"/>
            <a:ext cx="779209" cy="538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14;g8699182675_0_106">
            <a:extLst>
              <a:ext uri="{FF2B5EF4-FFF2-40B4-BE49-F238E27FC236}">
                <a16:creationId xmlns:a16="http://schemas.microsoft.com/office/drawing/2014/main" id="{229E17A6-3F7F-4597-B320-FA69ADCF2594}"/>
              </a:ext>
            </a:extLst>
          </p:cNvPr>
          <p:cNvPicPr preferRelativeResize="0"/>
          <p:nvPr userDrawn="1"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648850" y="6098538"/>
            <a:ext cx="970125" cy="373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17;g8699182675_0_106">
            <a:extLst>
              <a:ext uri="{FF2B5EF4-FFF2-40B4-BE49-F238E27FC236}">
                <a16:creationId xmlns:a16="http://schemas.microsoft.com/office/drawing/2014/main" id="{3FEAD5A7-E3AE-49E2-BDFE-3E1E434DE42E}"/>
              </a:ext>
            </a:extLst>
          </p:cNvPr>
          <p:cNvCxnSpPr/>
          <p:nvPr userDrawn="1"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m 1">
            <a:extLst>
              <a:ext uri="{FF2B5EF4-FFF2-40B4-BE49-F238E27FC236}">
                <a16:creationId xmlns:a16="http://schemas.microsoft.com/office/drawing/2014/main" id="{CF51189D-D017-4325-9476-C69C53122C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65537" t="58941"/>
          <a:stretch/>
        </p:blipFill>
        <p:spPr>
          <a:xfrm>
            <a:off x="7990318" y="4042160"/>
            <a:ext cx="4201682" cy="281583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8699182675_0_22"/>
          <p:cNvSpPr txBox="1">
            <a:spLocks noGrp="1"/>
          </p:cNvSpPr>
          <p:nvPr>
            <p:ph type="title"/>
          </p:nvPr>
        </p:nvSpPr>
        <p:spPr>
          <a:xfrm>
            <a:off x="6842666" y="3386008"/>
            <a:ext cx="5086098" cy="1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Arial"/>
              <a:buNone/>
            </a:pPr>
            <a:r>
              <a:rPr lang="pt-BR" sz="4800" b="0" dirty="0">
                <a:solidFill>
                  <a:srgbClr val="00929B"/>
                </a:solidFill>
                <a:latin typeface="Lato Black"/>
                <a:ea typeface="Lato Black"/>
                <a:cs typeface="Lato Black"/>
                <a:sym typeface="Lato Black"/>
              </a:rPr>
              <a:t>Análise e Desenvolvimento de Sistemas</a:t>
            </a:r>
            <a:br>
              <a:rPr lang="pt-BR" sz="4800" b="0" dirty="0">
                <a:solidFill>
                  <a:srgbClr val="00929B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br>
              <a:rPr lang="pt-BR" sz="4800" b="0" dirty="0">
                <a:solidFill>
                  <a:srgbClr val="00929B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pt-BR" sz="4800" b="0" dirty="0">
                <a:solidFill>
                  <a:srgbClr val="00929B"/>
                </a:solidFill>
                <a:latin typeface="Lato Black"/>
                <a:ea typeface="Lato Black"/>
                <a:cs typeface="Lato Black"/>
                <a:sym typeface="Lato Black"/>
              </a:rPr>
              <a:t>Técnicas de Programação</a:t>
            </a:r>
            <a:endParaRPr sz="4800" b="0" dirty="0">
              <a:solidFill>
                <a:srgbClr val="00929B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01" name="Google Shape;101;g8699182675_0_22"/>
          <p:cNvSpPr txBox="1">
            <a:spLocks noGrp="1"/>
          </p:cNvSpPr>
          <p:nvPr>
            <p:ph type="body" idx="1"/>
          </p:nvPr>
        </p:nvSpPr>
        <p:spPr>
          <a:xfrm>
            <a:off x="6842666" y="4583417"/>
            <a:ext cx="5086097" cy="390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400"/>
              <a:buNone/>
            </a:pPr>
            <a:r>
              <a:rPr lang="pt-BR" sz="2000" dirty="0">
                <a:solidFill>
                  <a:srgbClr val="7F7F7F"/>
                </a:solidFill>
              </a:rPr>
              <a:t>Carlos Jaime</a:t>
            </a:r>
            <a:endParaRPr sz="2000" dirty="0">
              <a:solidFill>
                <a:srgbClr val="7F7F7F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CE5E8CC6-8E49-572F-BD2F-9F4924D1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378EEDD5-63C8-2E63-F68E-7A822AD89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4013" y="224612"/>
            <a:ext cx="8148642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pt-BR" sz="3000" dirty="0">
                <a:solidFill>
                  <a:srgbClr val="204E7C"/>
                </a:solidFill>
                <a:latin typeface="Lato"/>
                <a:ea typeface="Lato"/>
                <a:cs typeface="Lato"/>
                <a:sym typeface="Lato"/>
              </a:rPr>
              <a:t>[PROVA] Exercício 1</a:t>
            </a:r>
            <a:br>
              <a:rPr lang="pt-BR" altLang="pt-BR" sz="3000" dirty="0">
                <a:solidFill>
                  <a:srgbClr val="204E7C"/>
                </a:solidFill>
                <a:latin typeface="Lato"/>
                <a:ea typeface="Lato"/>
                <a:cs typeface="Lato"/>
              </a:rPr>
            </a:br>
            <a:endParaRPr sz="3000" dirty="0">
              <a:solidFill>
                <a:srgbClr val="204E7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3">
            <a:extLst>
              <a:ext uri="{FF2B5EF4-FFF2-40B4-BE49-F238E27FC236}">
                <a16:creationId xmlns:a16="http://schemas.microsoft.com/office/drawing/2014/main" id="{AA8E91B7-EA46-3EF7-2E6B-AA2583071C5C}"/>
              </a:ext>
            </a:extLst>
          </p:cNvPr>
          <p:cNvCxnSpPr/>
          <p:nvPr/>
        </p:nvCxnSpPr>
        <p:spPr>
          <a:xfrm rot="10800000">
            <a:off x="0" y="410381"/>
            <a:ext cx="1190100" cy="510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3">
            <a:extLst>
              <a:ext uri="{FF2B5EF4-FFF2-40B4-BE49-F238E27FC236}">
                <a16:creationId xmlns:a16="http://schemas.microsoft.com/office/drawing/2014/main" id="{2E09AF97-8DF1-A314-CDFF-19096FC94FDA}"/>
              </a:ext>
            </a:extLst>
          </p:cNvPr>
          <p:cNvCxnSpPr>
            <a:cxnSpLocks/>
          </p:cNvCxnSpPr>
          <p:nvPr/>
        </p:nvCxnSpPr>
        <p:spPr>
          <a:xfrm flipH="1">
            <a:off x="4759779" y="415481"/>
            <a:ext cx="7432226" cy="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60B9CE16-DE9B-C470-C181-A2C3B43B6CE1}"/>
              </a:ext>
            </a:extLst>
          </p:cNvPr>
          <p:cNvCxnSpPr/>
          <p:nvPr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48153AC6-56CD-C9C3-9FA6-B6E719972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3B788C4-D83F-1C80-4985-4B3D58F35AF7}"/>
              </a:ext>
            </a:extLst>
          </p:cNvPr>
          <p:cNvSpPr txBox="1"/>
          <p:nvPr/>
        </p:nvSpPr>
        <p:spPr>
          <a:xfrm>
            <a:off x="263237" y="6455008"/>
            <a:ext cx="6103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https://github.com/carlosjaimeandrade/faexTP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A94A64-45F3-3D59-8BA8-C4E3BEDA6A8C}"/>
              </a:ext>
            </a:extLst>
          </p:cNvPr>
          <p:cNvSpPr txBox="1"/>
          <p:nvPr/>
        </p:nvSpPr>
        <p:spPr>
          <a:xfrm>
            <a:off x="161244" y="708280"/>
            <a:ext cx="1333431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Crie um programa em Python que solicite 5 notas (valores de 0 a 10) ao </a:t>
            </a:r>
          </a:p>
          <a:p>
            <a:pPr>
              <a:buNone/>
            </a:pPr>
            <a:r>
              <a:rPr lang="pt-BR" sz="2400" dirty="0"/>
              <a:t>usuário e armazene esses valores dentro de uma lista.</a:t>
            </a:r>
          </a:p>
          <a:p>
            <a:pPr>
              <a:buNone/>
            </a:pPr>
            <a:r>
              <a:rPr lang="pt-BR" sz="2400" dirty="0"/>
              <a:t>	Use o </a:t>
            </a:r>
            <a:r>
              <a:rPr lang="pt-BR" sz="2400" dirty="0" err="1">
                <a:sym typeface="Lato"/>
              </a:rPr>
              <a:t>TryExcept</a:t>
            </a:r>
            <a:r>
              <a:rPr lang="pt-BR" sz="2400" dirty="0">
                <a:sym typeface="Lato"/>
              </a:rPr>
              <a:t> para impedir </a:t>
            </a:r>
            <a:r>
              <a:rPr lang="pt-BR" sz="2400" dirty="0" err="1">
                <a:sym typeface="Lato"/>
              </a:rPr>
              <a:t>string</a:t>
            </a:r>
            <a:endParaRPr lang="pt-BR" sz="2400" dirty="0"/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Em seguida, crie uma função (</a:t>
            </a:r>
            <a:r>
              <a:rPr lang="pt-BR" sz="2400" dirty="0" err="1"/>
              <a:t>def</a:t>
            </a:r>
            <a:r>
              <a:rPr lang="pt-BR" sz="2400" dirty="0"/>
              <a:t>) que receba essa lista como parâmetro e </a:t>
            </a:r>
          </a:p>
          <a:p>
            <a:pPr>
              <a:buNone/>
            </a:pPr>
            <a:r>
              <a:rPr lang="pt-BR" sz="2400" dirty="0"/>
              <a:t>calcule a média das notas.</a:t>
            </a:r>
          </a:p>
          <a:p>
            <a:pPr>
              <a:buNone/>
            </a:pPr>
            <a:r>
              <a:rPr lang="pt-BR" sz="2400" dirty="0"/>
              <a:t>	A função deve retornar o valor da média.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Após calcular a média, o programa deve verificar:</a:t>
            </a:r>
          </a:p>
          <a:p>
            <a:pPr lvl="1"/>
            <a:r>
              <a:rPr lang="pt-BR" sz="2400" dirty="0"/>
              <a:t>	Se a média for maior ou igual a 7, exiba a mensagem:</a:t>
            </a:r>
          </a:p>
          <a:p>
            <a:pPr lvl="1"/>
            <a:r>
              <a:rPr lang="pt-BR" sz="2400" dirty="0"/>
              <a:t>		“Aluno aprovado com média X”</a:t>
            </a:r>
          </a:p>
          <a:p>
            <a:pPr lvl="1"/>
            <a:r>
              <a:rPr lang="pt-BR" sz="2400" dirty="0"/>
              <a:t>		Liste as notas inseridas usando o For</a:t>
            </a:r>
          </a:p>
          <a:p>
            <a:pPr lvl="1"/>
            <a:r>
              <a:rPr lang="pt-BR" sz="2400" dirty="0"/>
              <a:t>	Caso contrário, exiba:</a:t>
            </a:r>
          </a:p>
          <a:p>
            <a:pPr lvl="1"/>
            <a:r>
              <a:rPr lang="pt-BR" sz="2400" dirty="0"/>
              <a:t>		“Aluno reprovado com média X”</a:t>
            </a:r>
          </a:p>
          <a:p>
            <a:pPr lvl="1"/>
            <a:r>
              <a:rPr lang="pt-BR" sz="2400" dirty="0"/>
              <a:t>		Liste as notas inseridas usando o For</a:t>
            </a:r>
          </a:p>
        </p:txBody>
      </p:sp>
    </p:spTree>
    <p:extLst>
      <p:ext uri="{BB962C8B-B14F-4D97-AF65-F5344CB8AC3E}">
        <p14:creationId xmlns:p14="http://schemas.microsoft.com/office/powerpoint/2010/main" val="149753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22678E6F-E19B-E701-45CA-F907200C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A4B79BD-F7A0-9BBB-5198-0B2A13067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4013" y="224612"/>
            <a:ext cx="8148642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pt-BR" sz="3000" dirty="0">
                <a:solidFill>
                  <a:srgbClr val="204E7C"/>
                </a:solidFill>
                <a:latin typeface="Lato"/>
                <a:ea typeface="Lato"/>
                <a:cs typeface="Lato"/>
                <a:sym typeface="Lato"/>
              </a:rPr>
              <a:t>[PROVA] Exercício 2</a:t>
            </a:r>
            <a:br>
              <a:rPr lang="pt-BR" altLang="pt-BR" sz="3000" dirty="0">
                <a:solidFill>
                  <a:srgbClr val="204E7C"/>
                </a:solidFill>
                <a:latin typeface="Lato"/>
                <a:ea typeface="Lato"/>
                <a:cs typeface="Lato"/>
              </a:rPr>
            </a:br>
            <a:endParaRPr sz="3000" dirty="0">
              <a:solidFill>
                <a:srgbClr val="204E7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3">
            <a:extLst>
              <a:ext uri="{FF2B5EF4-FFF2-40B4-BE49-F238E27FC236}">
                <a16:creationId xmlns:a16="http://schemas.microsoft.com/office/drawing/2014/main" id="{DD9BD438-1A1B-65FF-83C6-6FFCBB198C35}"/>
              </a:ext>
            </a:extLst>
          </p:cNvPr>
          <p:cNvCxnSpPr/>
          <p:nvPr/>
        </p:nvCxnSpPr>
        <p:spPr>
          <a:xfrm rot="10800000">
            <a:off x="0" y="410381"/>
            <a:ext cx="1190100" cy="510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3">
            <a:extLst>
              <a:ext uri="{FF2B5EF4-FFF2-40B4-BE49-F238E27FC236}">
                <a16:creationId xmlns:a16="http://schemas.microsoft.com/office/drawing/2014/main" id="{2CE72028-5A06-072B-3B52-E6AA0DDA6635}"/>
              </a:ext>
            </a:extLst>
          </p:cNvPr>
          <p:cNvCxnSpPr>
            <a:cxnSpLocks/>
          </p:cNvCxnSpPr>
          <p:nvPr/>
        </p:nvCxnSpPr>
        <p:spPr>
          <a:xfrm flipH="1">
            <a:off x="4759779" y="415481"/>
            <a:ext cx="7432226" cy="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0BB31B97-4645-E33F-E661-66E22A61303D}"/>
              </a:ext>
            </a:extLst>
          </p:cNvPr>
          <p:cNvCxnSpPr/>
          <p:nvPr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C84BC785-5EA0-FE88-320F-34DE3853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ED43BF7-10DC-E16E-6C46-99EF9EB7197B}"/>
              </a:ext>
            </a:extLst>
          </p:cNvPr>
          <p:cNvSpPr txBox="1"/>
          <p:nvPr/>
        </p:nvSpPr>
        <p:spPr>
          <a:xfrm>
            <a:off x="263237" y="6455008"/>
            <a:ext cx="6103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https://github.com/carlosjaimeandrade/faexTP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DCAC2E-7D9A-949A-1646-47C7F1135C3B}"/>
              </a:ext>
            </a:extLst>
          </p:cNvPr>
          <p:cNvSpPr txBox="1"/>
          <p:nvPr/>
        </p:nvSpPr>
        <p:spPr>
          <a:xfrm>
            <a:off x="200250" y="1208681"/>
            <a:ext cx="117285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Crie um programa em Python que realize o cadastro de informações de 2 usuários.</a:t>
            </a:r>
            <a:br>
              <a:rPr lang="pt-BR" sz="2400" dirty="0"/>
            </a:br>
            <a:r>
              <a:rPr lang="pt-BR" sz="2400" dirty="0"/>
              <a:t>O sistema deve solicitar, para cada usuário:</a:t>
            </a:r>
          </a:p>
          <a:p>
            <a:r>
              <a:rPr lang="pt-BR" sz="2400" dirty="0"/>
              <a:t>	</a:t>
            </a:r>
            <a:r>
              <a:rPr lang="pt-BR" sz="2400" b="1" dirty="0"/>
              <a:t>Nome, um numero aleatório de 0 a 10</a:t>
            </a:r>
          </a:p>
          <a:p>
            <a:pPr>
              <a:buNone/>
            </a:pPr>
            <a:r>
              <a:rPr lang="pt-BR" sz="2400" dirty="0"/>
              <a:t>Utilize um laço for com range para controlar a quantidade de cadastros.</a:t>
            </a:r>
            <a:br>
              <a:rPr lang="pt-BR" sz="2400" dirty="0"/>
            </a:br>
            <a:r>
              <a:rPr lang="pt-BR" sz="2400" dirty="0"/>
              <a:t>Para cada usuário, crie um dicionário contendo os dados informados e armazene esse dicionário dentro de uma lista principal.</a:t>
            </a:r>
          </a:p>
          <a:p>
            <a:pPr>
              <a:buNone/>
            </a:pPr>
            <a:r>
              <a:rPr lang="pt-BR" sz="2400" dirty="0"/>
              <a:t>O </a:t>
            </a:r>
            <a:r>
              <a:rPr lang="pt-BR" sz="2400" b="1" dirty="0"/>
              <a:t>numero aleatório </a:t>
            </a:r>
            <a:r>
              <a:rPr lang="pt-BR" sz="2400" dirty="0"/>
              <a:t>deve ser solicitada dentro de um bloco </a:t>
            </a:r>
            <a:r>
              <a:rPr lang="pt-BR" sz="2400" dirty="0" err="1"/>
              <a:t>try</a:t>
            </a:r>
            <a:r>
              <a:rPr lang="pt-BR" sz="2400" dirty="0"/>
              <a:t>/</a:t>
            </a:r>
            <a:r>
              <a:rPr lang="pt-BR" sz="2400" dirty="0" err="1"/>
              <a:t>except</a:t>
            </a:r>
            <a:r>
              <a:rPr lang="pt-BR" sz="2400" dirty="0"/>
              <a:t>, impedindo que sejam digitadas letras ou valores inválidos.</a:t>
            </a:r>
            <a:br>
              <a:rPr lang="pt-BR" sz="2400" dirty="0"/>
            </a:br>
            <a:r>
              <a:rPr lang="pt-BR" sz="2400" dirty="0"/>
              <a:t>	Caso o usuário digite um valor incorreto, o sistema deve exibir uma 	mensagem de erro e solicitar novamente o dado até que seja informada uma 	idade válida.</a:t>
            </a:r>
          </a:p>
          <a:p>
            <a:pPr>
              <a:buNone/>
            </a:pPr>
            <a:r>
              <a:rPr lang="pt-BR" sz="2400" dirty="0"/>
              <a:t>Identifique o maior numero e o menor numero</a:t>
            </a:r>
          </a:p>
          <a:p>
            <a:pPr>
              <a:buNone/>
            </a:pPr>
            <a:r>
              <a:rPr lang="pt-BR" sz="2400" dirty="0"/>
              <a:t>Crie um função (</a:t>
            </a:r>
            <a:r>
              <a:rPr lang="pt-BR" sz="2400" dirty="0" err="1"/>
              <a:t>def</a:t>
            </a:r>
            <a:r>
              <a:rPr lang="pt-BR" sz="2400" dirty="0"/>
              <a:t>) que apresente (print) uma mensagem </a:t>
            </a:r>
            <a:r>
              <a:rPr lang="pt-BR" sz="2400" dirty="0" err="1"/>
              <a:t>f“Maior</a:t>
            </a:r>
            <a:r>
              <a:rPr lang="pt-BR" sz="2400" dirty="0"/>
              <a:t> numero é {}”</a:t>
            </a:r>
          </a:p>
        </p:txBody>
      </p:sp>
    </p:spTree>
    <p:extLst>
      <p:ext uri="{BB962C8B-B14F-4D97-AF65-F5344CB8AC3E}">
        <p14:creationId xmlns:p14="http://schemas.microsoft.com/office/powerpoint/2010/main" val="407574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4519EA88-B4B6-63D6-F9A7-1D0DAD5B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5B80D71-F1B6-30D9-E882-3C02FD4467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4013" y="224612"/>
            <a:ext cx="8148642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pt-BR" sz="3000" dirty="0">
                <a:solidFill>
                  <a:srgbClr val="204E7C"/>
                </a:solidFill>
                <a:latin typeface="Lato"/>
                <a:ea typeface="Lato"/>
                <a:cs typeface="Lato"/>
                <a:sym typeface="Lato"/>
              </a:rPr>
              <a:t>[PROVA] Exercício 3</a:t>
            </a:r>
            <a:br>
              <a:rPr lang="pt-BR" altLang="pt-BR" sz="3000" dirty="0">
                <a:solidFill>
                  <a:srgbClr val="204E7C"/>
                </a:solidFill>
                <a:latin typeface="Lato"/>
                <a:ea typeface="Lato"/>
                <a:cs typeface="Lato"/>
              </a:rPr>
            </a:br>
            <a:endParaRPr sz="3000" dirty="0">
              <a:solidFill>
                <a:srgbClr val="204E7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3">
            <a:extLst>
              <a:ext uri="{FF2B5EF4-FFF2-40B4-BE49-F238E27FC236}">
                <a16:creationId xmlns:a16="http://schemas.microsoft.com/office/drawing/2014/main" id="{6075F9DF-B3EF-D06E-55C1-4A3F9F5ECA9E}"/>
              </a:ext>
            </a:extLst>
          </p:cNvPr>
          <p:cNvCxnSpPr/>
          <p:nvPr/>
        </p:nvCxnSpPr>
        <p:spPr>
          <a:xfrm rot="10800000">
            <a:off x="0" y="410381"/>
            <a:ext cx="1190100" cy="510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3">
            <a:extLst>
              <a:ext uri="{FF2B5EF4-FFF2-40B4-BE49-F238E27FC236}">
                <a16:creationId xmlns:a16="http://schemas.microsoft.com/office/drawing/2014/main" id="{7A8D9715-069B-AA9B-C088-229974E4AAF1}"/>
              </a:ext>
            </a:extLst>
          </p:cNvPr>
          <p:cNvCxnSpPr>
            <a:cxnSpLocks/>
          </p:cNvCxnSpPr>
          <p:nvPr/>
        </p:nvCxnSpPr>
        <p:spPr>
          <a:xfrm flipH="1">
            <a:off x="4759779" y="415481"/>
            <a:ext cx="7432226" cy="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3B1DC8A6-8757-3D72-5EF9-A935EFDA33C6}"/>
              </a:ext>
            </a:extLst>
          </p:cNvPr>
          <p:cNvCxnSpPr/>
          <p:nvPr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E111A285-2910-3A2C-9D22-47DEC1E16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8CF700E-857E-166B-BF74-7A606DA8BA6B}"/>
              </a:ext>
            </a:extLst>
          </p:cNvPr>
          <p:cNvSpPr txBox="1"/>
          <p:nvPr/>
        </p:nvSpPr>
        <p:spPr>
          <a:xfrm>
            <a:off x="94114" y="856357"/>
            <a:ext cx="117285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Crie um programa em Python que realize o cadastro de informações de 2 usuários.</a:t>
            </a:r>
            <a:br>
              <a:rPr lang="pt-BR" sz="2400" dirty="0"/>
            </a:br>
            <a:r>
              <a:rPr lang="pt-BR" sz="2400" dirty="0"/>
              <a:t>O sistema deve solicitar, para cada usuário:</a:t>
            </a:r>
          </a:p>
          <a:p>
            <a:r>
              <a:rPr lang="pt-BR" sz="2400" dirty="0"/>
              <a:t>	</a:t>
            </a:r>
            <a:r>
              <a:rPr lang="pt-BR" sz="2400" b="1" dirty="0"/>
              <a:t>Nome, Idade e Três filmes favoritos</a:t>
            </a:r>
          </a:p>
          <a:p>
            <a:pPr>
              <a:buNone/>
            </a:pPr>
            <a:r>
              <a:rPr lang="pt-BR" sz="2400" dirty="0"/>
              <a:t>Utilize um laço for com range para controlar a quantidade de cadastros.</a:t>
            </a:r>
            <a:br>
              <a:rPr lang="pt-BR" sz="2400" dirty="0"/>
            </a:br>
            <a:r>
              <a:rPr lang="pt-BR" sz="2400" dirty="0"/>
              <a:t>Para cada usuário, crie um dicionário contendo os dados informados e armazene esse dicionário dentro de uma lista principal.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A idade deve ser solicitada dentro de um bloco </a:t>
            </a:r>
            <a:r>
              <a:rPr lang="pt-BR" sz="2400" dirty="0" err="1"/>
              <a:t>try</a:t>
            </a:r>
            <a:r>
              <a:rPr lang="pt-BR" sz="2400" dirty="0"/>
              <a:t>/</a:t>
            </a:r>
            <a:r>
              <a:rPr lang="pt-BR" sz="2400" dirty="0" err="1"/>
              <a:t>except</a:t>
            </a:r>
            <a:r>
              <a:rPr lang="pt-BR" sz="2400" dirty="0"/>
              <a:t>, impedindo que sejam digitadas letras ou valores inválidos.</a:t>
            </a:r>
            <a:br>
              <a:rPr lang="pt-BR" sz="2400" dirty="0"/>
            </a:br>
            <a:r>
              <a:rPr lang="pt-BR" sz="2400" dirty="0"/>
              <a:t>	Caso o usuário digite um valor incorreto, o sistema deve exibir uma 	mensagem de erro e solicitar novamente o dado até que seja informada uma 	idade válida.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Ao final, exiba todos os usuários cadastrados, percorrendo a lista e mostrando as informações de cada dicionário na tela.</a:t>
            </a:r>
          </a:p>
          <a:p>
            <a:pPr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4762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95B584E8-D90C-5086-E7E1-D6EAF7D4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9EA710C-255D-C2FD-4618-481C72B24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4013" y="224612"/>
            <a:ext cx="8148642" cy="7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pt-BR" sz="3000" dirty="0">
                <a:solidFill>
                  <a:srgbClr val="204E7C"/>
                </a:solidFill>
                <a:latin typeface="Lato"/>
                <a:ea typeface="Lato"/>
                <a:cs typeface="Lato"/>
                <a:sym typeface="Lato"/>
              </a:rPr>
              <a:t>[PROVA] Exercício 4</a:t>
            </a:r>
            <a:br>
              <a:rPr lang="pt-BR" altLang="pt-BR" sz="3000" dirty="0">
                <a:solidFill>
                  <a:srgbClr val="204E7C"/>
                </a:solidFill>
                <a:latin typeface="Lato"/>
                <a:ea typeface="Lato"/>
                <a:cs typeface="Lato"/>
              </a:rPr>
            </a:br>
            <a:endParaRPr sz="3000" dirty="0">
              <a:solidFill>
                <a:srgbClr val="204E7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3">
            <a:extLst>
              <a:ext uri="{FF2B5EF4-FFF2-40B4-BE49-F238E27FC236}">
                <a16:creationId xmlns:a16="http://schemas.microsoft.com/office/drawing/2014/main" id="{E8B21ED4-7924-3831-ED42-FEBA1BA38EDE}"/>
              </a:ext>
            </a:extLst>
          </p:cNvPr>
          <p:cNvCxnSpPr/>
          <p:nvPr/>
        </p:nvCxnSpPr>
        <p:spPr>
          <a:xfrm rot="10800000">
            <a:off x="0" y="410381"/>
            <a:ext cx="1190100" cy="510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3">
            <a:extLst>
              <a:ext uri="{FF2B5EF4-FFF2-40B4-BE49-F238E27FC236}">
                <a16:creationId xmlns:a16="http://schemas.microsoft.com/office/drawing/2014/main" id="{E494084F-CDCA-8BD9-7419-A35B94A86206}"/>
              </a:ext>
            </a:extLst>
          </p:cNvPr>
          <p:cNvCxnSpPr>
            <a:cxnSpLocks/>
          </p:cNvCxnSpPr>
          <p:nvPr/>
        </p:nvCxnSpPr>
        <p:spPr>
          <a:xfrm flipH="1">
            <a:off x="4759779" y="415481"/>
            <a:ext cx="7432226" cy="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75A6F465-B267-0252-E142-7A1F090B823B}"/>
              </a:ext>
            </a:extLst>
          </p:cNvPr>
          <p:cNvCxnSpPr/>
          <p:nvPr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7117239A-79CA-1AF6-B7DF-64F35BFD7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D0F6218-4753-89D9-3D73-E2DF3AFCD3D9}"/>
              </a:ext>
            </a:extLst>
          </p:cNvPr>
          <p:cNvSpPr txBox="1"/>
          <p:nvPr/>
        </p:nvSpPr>
        <p:spPr>
          <a:xfrm>
            <a:off x="263237" y="6455008"/>
            <a:ext cx="61030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https://github.com/carlosjaimeandrade/faexTP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03111F-EF56-91AA-C291-1926A1B560F5}"/>
              </a:ext>
            </a:extLst>
          </p:cNvPr>
          <p:cNvSpPr txBox="1"/>
          <p:nvPr/>
        </p:nvSpPr>
        <p:spPr>
          <a:xfrm>
            <a:off x="200250" y="772978"/>
            <a:ext cx="117285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Crie um programa em Python que realize o cadastro de informações de 2 usuários.</a:t>
            </a:r>
            <a:br>
              <a:rPr lang="pt-BR" sz="2400" dirty="0"/>
            </a:br>
            <a:r>
              <a:rPr lang="pt-BR" sz="2400" dirty="0"/>
              <a:t>O sistema deve solicitar, para cada usuário:</a:t>
            </a:r>
          </a:p>
          <a:p>
            <a:r>
              <a:rPr lang="pt-BR" sz="2400" dirty="0"/>
              <a:t>	</a:t>
            </a:r>
            <a:r>
              <a:rPr lang="pt-BR" sz="2400" b="1" dirty="0"/>
              <a:t>Nome, valor da n1, valor da n2 e total (n1+n2)</a:t>
            </a:r>
          </a:p>
          <a:p>
            <a:pPr>
              <a:buNone/>
            </a:pPr>
            <a:r>
              <a:rPr lang="pt-BR" sz="2400" dirty="0"/>
              <a:t>Utilize um laço for com range para controlar a quantidade de cadastros.</a:t>
            </a:r>
            <a:br>
              <a:rPr lang="pt-BR" sz="2400" dirty="0"/>
            </a:br>
            <a:r>
              <a:rPr lang="pt-BR" sz="2400" dirty="0"/>
              <a:t>Para cada usuário, crie um dicionário contendo os dados informados e armazene esse dicionário dentro de uma lista principal.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Os valores de </a:t>
            </a:r>
            <a:r>
              <a:rPr lang="pt-BR" sz="2400" b="1" dirty="0"/>
              <a:t>n1, n2 </a:t>
            </a:r>
            <a:r>
              <a:rPr lang="pt-BR" sz="2400" dirty="0"/>
              <a:t>deve ser solicitada dentro de um bloco </a:t>
            </a:r>
            <a:r>
              <a:rPr lang="pt-BR" sz="2400" dirty="0" err="1"/>
              <a:t>try</a:t>
            </a:r>
            <a:r>
              <a:rPr lang="pt-BR" sz="2400" dirty="0"/>
              <a:t>/</a:t>
            </a:r>
            <a:r>
              <a:rPr lang="pt-BR" sz="2400" dirty="0" err="1"/>
              <a:t>except</a:t>
            </a:r>
            <a:r>
              <a:rPr lang="pt-BR" sz="2400" dirty="0"/>
              <a:t>, impedindo que sejam digitadas letras ou valores inválidos.</a:t>
            </a:r>
            <a:br>
              <a:rPr lang="pt-BR" sz="2400" dirty="0"/>
            </a:br>
            <a:r>
              <a:rPr lang="pt-BR" sz="2400" dirty="0"/>
              <a:t>	Caso o usuário digite um valor incorreto, o sistema deve exibir uma 	mensagem de erro e solicitar novamente o dado até que seja informada uma 	idade válida.</a:t>
            </a:r>
          </a:p>
          <a:p>
            <a:pPr>
              <a:buNone/>
            </a:pPr>
            <a:endParaRPr lang="pt-BR" sz="2400" dirty="0"/>
          </a:p>
          <a:p>
            <a:pPr>
              <a:buNone/>
            </a:pPr>
            <a:r>
              <a:rPr lang="pt-BR" sz="2400" dirty="0"/>
              <a:t>Ao final, exiba todos os usuários cadastrados, percorrendo a lista e mostrando as informações de cada dicionário na tela.</a:t>
            </a:r>
          </a:p>
        </p:txBody>
      </p:sp>
    </p:spTree>
    <p:extLst>
      <p:ext uri="{BB962C8B-B14F-4D97-AF65-F5344CB8AC3E}">
        <p14:creationId xmlns:p14="http://schemas.microsoft.com/office/powerpoint/2010/main" val="397500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95B584E8-D90C-5086-E7E1-D6EAF7D4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9EA710C-255D-C2FD-4618-481C72B24A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4636" y="228600"/>
            <a:ext cx="4254035" cy="51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pt-BR" sz="3000" dirty="0">
                <a:solidFill>
                  <a:srgbClr val="204E7C"/>
                </a:solidFill>
                <a:latin typeface="Lato"/>
                <a:ea typeface="Lato"/>
                <a:cs typeface="Lato"/>
                <a:sym typeface="Lato"/>
              </a:rPr>
              <a:t>[PROVA] Exercício 5</a:t>
            </a:r>
            <a:br>
              <a:rPr lang="pt-BR" altLang="pt-BR" sz="3000" dirty="0">
                <a:solidFill>
                  <a:srgbClr val="204E7C"/>
                </a:solidFill>
                <a:latin typeface="Lato"/>
                <a:ea typeface="Lato"/>
                <a:cs typeface="Lato"/>
              </a:rPr>
            </a:br>
            <a:endParaRPr sz="3000" dirty="0">
              <a:solidFill>
                <a:srgbClr val="204E7C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4" name="Google Shape;124;p3">
            <a:extLst>
              <a:ext uri="{FF2B5EF4-FFF2-40B4-BE49-F238E27FC236}">
                <a16:creationId xmlns:a16="http://schemas.microsoft.com/office/drawing/2014/main" id="{E8B21ED4-7924-3831-ED42-FEBA1BA38EDE}"/>
              </a:ext>
            </a:extLst>
          </p:cNvPr>
          <p:cNvCxnSpPr/>
          <p:nvPr/>
        </p:nvCxnSpPr>
        <p:spPr>
          <a:xfrm rot="10800000">
            <a:off x="-5" y="286694"/>
            <a:ext cx="1190100" cy="5100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3">
            <a:extLst>
              <a:ext uri="{FF2B5EF4-FFF2-40B4-BE49-F238E27FC236}">
                <a16:creationId xmlns:a16="http://schemas.microsoft.com/office/drawing/2014/main" id="{E494084F-CDCA-8BD9-7419-A35B94A86206}"/>
              </a:ext>
            </a:extLst>
          </p:cNvPr>
          <p:cNvCxnSpPr>
            <a:cxnSpLocks/>
          </p:cNvCxnSpPr>
          <p:nvPr/>
        </p:nvCxnSpPr>
        <p:spPr>
          <a:xfrm flipH="1" flipV="1">
            <a:off x="5012871" y="228600"/>
            <a:ext cx="7179129" cy="63194"/>
          </a:xfrm>
          <a:prstGeom prst="straightConnector1">
            <a:avLst/>
          </a:prstGeom>
          <a:noFill/>
          <a:ln w="19050" cap="flat" cmpd="sng">
            <a:solidFill>
              <a:srgbClr val="00929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3">
            <a:extLst>
              <a:ext uri="{FF2B5EF4-FFF2-40B4-BE49-F238E27FC236}">
                <a16:creationId xmlns:a16="http://schemas.microsoft.com/office/drawing/2014/main" id="{75A6F465-B267-0252-E142-7A1F090B823B}"/>
              </a:ext>
            </a:extLst>
          </p:cNvPr>
          <p:cNvCxnSpPr/>
          <p:nvPr/>
        </p:nvCxnSpPr>
        <p:spPr>
          <a:xfrm>
            <a:off x="10798075" y="5990200"/>
            <a:ext cx="8700" cy="4893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7117239A-79CA-1AF6-B7DF-64F35BFD7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273" y="5846618"/>
            <a:ext cx="1191490" cy="85898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503111F-EF56-91AA-C291-1926A1B560F5}"/>
              </a:ext>
            </a:extLst>
          </p:cNvPr>
          <p:cNvSpPr txBox="1"/>
          <p:nvPr/>
        </p:nvSpPr>
        <p:spPr>
          <a:xfrm>
            <a:off x="41795" y="487025"/>
            <a:ext cx="11728513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dirty="0"/>
              <a:t>Crie um programa em Python que realize o cadastro de informações de 2 usuários.</a:t>
            </a:r>
            <a:br>
              <a:rPr lang="pt-BR" sz="2400" dirty="0"/>
            </a:br>
            <a:r>
              <a:rPr lang="pt-BR" sz="2400" dirty="0"/>
              <a:t>O sistema deve solicitar, para cada usuário:</a:t>
            </a:r>
          </a:p>
          <a:p>
            <a:r>
              <a:rPr lang="pt-BR" sz="2400" dirty="0"/>
              <a:t>	</a:t>
            </a:r>
            <a:r>
              <a:rPr lang="pt-BR" sz="2400" b="1" dirty="0"/>
              <a:t>Nome, valor da n1, valor da n2 e total (n1+n2)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Utilize um laço for com range para controlar a quantidade de cadastros.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Para cada usuário, crie um dicionário contendo os dados informados e armazene esse dicionário dentro de uma lista principal </a:t>
            </a:r>
          </a:p>
          <a:p>
            <a:pPr lvl="1"/>
            <a:r>
              <a:rPr lang="pt-BR" sz="2400" dirty="0"/>
              <a:t>	Exemplo: [{},{}].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Os valores de </a:t>
            </a:r>
            <a:r>
              <a:rPr lang="pt-BR" sz="2400" b="1" dirty="0"/>
              <a:t>n1, n2 </a:t>
            </a:r>
            <a:r>
              <a:rPr lang="pt-BR" sz="2400" dirty="0"/>
              <a:t>deve ser solicitada dentro de um bloco </a:t>
            </a:r>
            <a:r>
              <a:rPr lang="pt-BR" sz="2400" dirty="0" err="1"/>
              <a:t>try</a:t>
            </a:r>
            <a:r>
              <a:rPr lang="pt-BR" sz="2400" dirty="0"/>
              <a:t>/</a:t>
            </a:r>
            <a:r>
              <a:rPr lang="pt-BR" sz="2400" dirty="0" err="1"/>
              <a:t>except</a:t>
            </a:r>
            <a:r>
              <a:rPr lang="pt-BR" sz="2400" dirty="0"/>
              <a:t>, impedindo que sejam digitadas letras ou valores inválidos.</a:t>
            </a:r>
            <a:br>
              <a:rPr lang="pt-BR" sz="2400" dirty="0"/>
            </a:br>
            <a:r>
              <a:rPr lang="pt-BR" sz="2400" dirty="0"/>
              <a:t>	Caso o usuário digite um valor incorreto, o sistema deve exibir uma 	mensagem de erro e solicitar novamente o dado até que seja informada uma 	idade válida.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Ao final do programa, crie uma </a:t>
            </a:r>
            <a:r>
              <a:rPr lang="pt-BR" sz="2400" b="1" dirty="0"/>
              <a:t>função (</a:t>
            </a:r>
            <a:r>
              <a:rPr lang="pt-BR" sz="2400" b="1" dirty="0" err="1"/>
              <a:t>def</a:t>
            </a:r>
            <a:r>
              <a:rPr lang="pt-BR" sz="2400" b="1" dirty="0"/>
              <a:t>)</a:t>
            </a:r>
            <a:r>
              <a:rPr lang="pt-BR" sz="2400" dirty="0"/>
              <a:t> que receba a </a:t>
            </a:r>
            <a:r>
              <a:rPr lang="pt-BR" sz="2400" b="1" dirty="0"/>
              <a:t>lista completa de usuários</a:t>
            </a:r>
            <a:r>
              <a:rPr lang="pt-BR" sz="2400" dirty="0"/>
              <a:t> como parâmetros e exiba todos os cadastros, percorrendo a lista e mostrando cada valor do dicionário na tela.</a:t>
            </a:r>
          </a:p>
          <a:p>
            <a:pPr>
              <a:buNone/>
            </a:pPr>
            <a:r>
              <a:rPr lang="pt-BR" sz="2400" b="1" dirty="0"/>
              <a:t>	Dentro da função</a:t>
            </a:r>
            <a:r>
              <a:rPr lang="pt-BR" sz="2400" dirty="0"/>
              <a:t>, adicionar a lógica: Se </a:t>
            </a:r>
            <a:r>
              <a:rPr lang="pt-BR" sz="2400" b="1" dirty="0"/>
              <a:t>total &gt;= 60</a:t>
            </a:r>
            <a:r>
              <a:rPr lang="pt-BR" sz="2400" dirty="0"/>
              <a:t> → "Usuário passou“</a:t>
            </a:r>
          </a:p>
          <a:p>
            <a:pPr>
              <a:buNone/>
            </a:pPr>
            <a:r>
              <a:rPr lang="pt-BR" sz="2400" dirty="0"/>
              <a:t>	Caso contrário → "Usuário ficou de recuperação"</a:t>
            </a:r>
          </a:p>
        </p:txBody>
      </p:sp>
    </p:spTree>
    <p:extLst>
      <p:ext uri="{BB962C8B-B14F-4D97-AF65-F5344CB8AC3E}">
        <p14:creationId xmlns:p14="http://schemas.microsoft.com/office/powerpoint/2010/main" val="1331677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5C3E3B057A2A46BFDE05650FB99DB8" ma:contentTypeVersion="10" ma:contentTypeDescription="Crie um novo documento." ma:contentTypeScope="" ma:versionID="0b748efbe78928413eb127652a60e3d6">
  <xsd:schema xmlns:xsd="http://www.w3.org/2001/XMLSchema" xmlns:xs="http://www.w3.org/2001/XMLSchema" xmlns:p="http://schemas.microsoft.com/office/2006/metadata/properties" xmlns:ns2="bacde526-1472-478a-9449-f5e10409de07" xmlns:ns3="8e9cb2f2-a351-48f6-8d28-1577bf3da6ce" targetNamespace="http://schemas.microsoft.com/office/2006/metadata/properties" ma:root="true" ma:fieldsID="16b6721a830c39498853c8746ecd6d6d" ns2:_="" ns3:_="">
    <xsd:import namespace="bacde526-1472-478a-9449-f5e10409de07"/>
    <xsd:import namespace="8e9cb2f2-a351-48f6-8d28-1577bf3da6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de526-1472-478a-9449-f5e10409de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cb2f2-a351-48f6-8d28-1577bf3da6c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D02ED8-CFF6-49DC-9DC4-E476951D5D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D8FB25-5752-48D9-B8E6-E07A4BA8DB64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www.w3.org/XML/1998/namespace"/>
    <ds:schemaRef ds:uri="bacde526-1472-478a-9449-f5e10409de07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8e9cb2f2-a351-48f6-8d28-1577bf3da6ce"/>
  </ds:schemaRefs>
</ds:datastoreItem>
</file>

<file path=customXml/itemProps3.xml><?xml version="1.0" encoding="utf-8"?>
<ds:datastoreItem xmlns:ds="http://schemas.openxmlformats.org/officeDocument/2006/customXml" ds:itemID="{B674D5FD-C3BE-4523-A88B-410663086D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cde526-1472-478a-9449-f5e10409de07"/>
    <ds:schemaRef ds:uri="8e9cb2f2-a351-48f6-8d28-1577bf3da6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24331</TotalTime>
  <Words>862</Words>
  <Application>Microsoft Office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Lato Black</vt:lpstr>
      <vt:lpstr>Calibri</vt:lpstr>
      <vt:lpstr>Arial</vt:lpstr>
      <vt:lpstr>Lato</vt:lpstr>
      <vt:lpstr>Tema do Office</vt:lpstr>
      <vt:lpstr>Análise e Desenvolvimento de Sistemas  Técnicas de Programação</vt:lpstr>
      <vt:lpstr>[PROVA] Exercício 1 </vt:lpstr>
      <vt:lpstr>[PROVA] Exercício 2 </vt:lpstr>
      <vt:lpstr>[PROVA] Exercício 3 </vt:lpstr>
      <vt:lpstr>[PROVA] Exercício 4 </vt:lpstr>
      <vt:lpstr>[PROVA] Exercício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DA APRESENTAÇÃO</dc:title>
  <dc:creator>Fabricio</dc:creator>
  <cp:lastModifiedBy>Carlos Jaime</cp:lastModifiedBy>
  <cp:revision>212</cp:revision>
  <dcterms:created xsi:type="dcterms:W3CDTF">2017-07-27T00:04:24Z</dcterms:created>
  <dcterms:modified xsi:type="dcterms:W3CDTF">2025-11-28T19:22:38Z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0x010100165C3E3B057A2A46BFDE05650FB99DB8</vt:lpwstr>
  </property>
</Properties>
</file>